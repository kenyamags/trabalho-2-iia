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3200400" cy="1828800"/>
  <p:notesSz cx="6858000" cy="9144000"/>
  <p:embeddedFontLst>
    <p:embeddedFont>
      <p:font typeface="Pattanakarn Expanded Bold" charset="1" panose="00000000000000000000"/>
      <p:regular r:id="rId16"/>
    </p:embeddedFont>
    <p:embeddedFont>
      <p:font typeface="Canva Sans Medium Italics" charset="1" panose="020B0603030501040103"/>
      <p:regular r:id="rId17"/>
    </p:embeddedFont>
    <p:embeddedFont>
      <p:font typeface="Pattanakarn Expande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5636" y="248173"/>
            <a:ext cx="2751884" cy="886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3"/>
              </a:lnSpc>
            </a:pPr>
            <a:r>
              <a:rPr lang="en-US" b="true" sz="1323" spc="27">
                <a:solidFill>
                  <a:srgbClr val="05367E"/>
                </a:solidFill>
                <a:latin typeface="Pattanakarn Expanded Bold"/>
                <a:ea typeface="Pattanakarn Expanded Bold"/>
                <a:cs typeface="Pattanakarn Expanded Bold"/>
                <a:sym typeface="Pattanakarn Expanded Bold"/>
              </a:rPr>
              <a:t>IMPLEMENTAÇÃO DE</a:t>
            </a:r>
          </a:p>
          <a:p>
            <a:pPr algn="ctr">
              <a:lnSpc>
                <a:spcPts val="1363"/>
              </a:lnSpc>
            </a:pPr>
            <a:r>
              <a:rPr lang="en-US" b="true" sz="1323" spc="27">
                <a:solidFill>
                  <a:srgbClr val="05367E"/>
                </a:solidFill>
                <a:latin typeface="Pattanakarn Expanded Bold"/>
                <a:ea typeface="Pattanakarn Expanded Bold"/>
                <a:cs typeface="Pattanakarn Expanded Bold"/>
                <a:sym typeface="Pattanakarn Expanded Bold"/>
              </a:rPr>
              <a:t>        FUNÇÕES LÓGICAS               UTILIZANDO RETROPROPAGAÇÃO DE ERRO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4959" y="1230037"/>
            <a:ext cx="1564965" cy="45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3"/>
              </a:lnSpc>
            </a:pPr>
            <a:r>
              <a:rPr lang="en-US" b="true" sz="575" i="true">
                <a:solidFill>
                  <a:srgbClr val="05367E"/>
                </a:solidFill>
                <a:latin typeface="Canva Sans Medium Italics"/>
                <a:ea typeface="Canva Sans Medium Italics"/>
                <a:cs typeface="Canva Sans Medium Italics"/>
                <a:sym typeface="Canva Sans Medium Italics"/>
              </a:rPr>
              <a:t>Professor : Dr. Fábio Henrique</a:t>
            </a:r>
          </a:p>
          <a:p>
            <a:pPr algn="ctr">
              <a:lnSpc>
                <a:spcPts val="673"/>
              </a:lnSpc>
            </a:pPr>
          </a:p>
          <a:p>
            <a:pPr algn="ctr">
              <a:lnSpc>
                <a:spcPts val="673"/>
              </a:lnSpc>
            </a:pPr>
            <a:r>
              <a:rPr lang="en-US" b="true" sz="575" i="true">
                <a:solidFill>
                  <a:srgbClr val="05367E"/>
                </a:solidFill>
                <a:latin typeface="Canva Sans Medium Italics"/>
                <a:ea typeface="Canva Sans Medium Italics"/>
                <a:cs typeface="Canva Sans Medium Italics"/>
                <a:sym typeface="Canva Sans Medium Italics"/>
              </a:rPr>
              <a:t>Alunos: Bruno Gomes</a:t>
            </a:r>
          </a:p>
          <a:p>
            <a:pPr algn="ctr">
              <a:lnSpc>
                <a:spcPts val="673"/>
              </a:lnSpc>
            </a:pPr>
            <a:r>
              <a:rPr lang="en-US" b="true" sz="575" i="true">
                <a:solidFill>
                  <a:srgbClr val="05367E"/>
                </a:solidFill>
                <a:latin typeface="Canva Sans Medium Italics"/>
                <a:ea typeface="Canva Sans Medium Italics"/>
                <a:cs typeface="Canva Sans Medium Italics"/>
                <a:sym typeface="Canva Sans Medium Italics"/>
              </a:rPr>
              <a:t>                        Kênya Magalhães</a:t>
            </a:r>
          </a:p>
          <a:p>
            <a:pPr algn="ctr">
              <a:lnSpc>
                <a:spcPts val="986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6267" y="147036"/>
            <a:ext cx="2031588" cy="17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027" spc="-2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INTRODUÇÃO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2036" y="683392"/>
            <a:ext cx="1496565" cy="569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6294" indent="-68147" lvl="1">
              <a:lnSpc>
                <a:spcPts val="883"/>
              </a:lnSpc>
              <a:buFont typeface="Arial"/>
              <a:buChar char="•"/>
            </a:pPr>
            <a:r>
              <a:rPr lang="en-US" sz="631" spc="-1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Rede Neural Multicamada (MLP)</a:t>
            </a:r>
          </a:p>
          <a:p>
            <a:pPr algn="l" marL="136294" indent="-68147" lvl="1">
              <a:lnSpc>
                <a:spcPts val="883"/>
              </a:lnSpc>
              <a:buFont typeface="Arial"/>
              <a:buChar char="•"/>
            </a:pPr>
            <a:r>
              <a:rPr lang="en-US" sz="631" spc="-1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Algoritmo Backpropagation</a:t>
            </a:r>
          </a:p>
          <a:p>
            <a:pPr algn="l" marL="136294" indent="-68147" lvl="1">
              <a:lnSpc>
                <a:spcPts val="883"/>
              </a:lnSpc>
              <a:buFont typeface="Arial"/>
              <a:buChar char="•"/>
            </a:pPr>
            <a:r>
              <a:rPr lang="en-US" sz="631" spc="-1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Implementação em Python</a:t>
            </a:r>
          </a:p>
          <a:p>
            <a:pPr algn="l" marL="136294" indent="-68147" lvl="1">
              <a:lnSpc>
                <a:spcPts val="883"/>
              </a:lnSpc>
              <a:buFont typeface="Arial"/>
              <a:buChar char="•"/>
            </a:pPr>
            <a:r>
              <a:rPr lang="en-US" sz="631" spc="-1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Reprodução da função lógica XOR</a:t>
            </a:r>
          </a:p>
          <a:p>
            <a:pPr algn="l">
              <a:lnSpc>
                <a:spcPts val="6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52657" y="400952"/>
            <a:ext cx="1660352" cy="20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"/>
              </a:lnSpc>
            </a:pPr>
            <a:r>
              <a:rPr lang="en-US" sz="627" spc="-1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Implementação de Funções Lógicas com Redes Neurais MLP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6267" y="147036"/>
            <a:ext cx="2031588" cy="17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027" spc="-2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OBJETIVO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2036" y="683392"/>
            <a:ext cx="1721154" cy="457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"/>
              </a:lnSpc>
            </a:pPr>
            <a:r>
              <a:rPr lang="en-US" sz="631" spc="-1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Implementar uma Rede Neural Multicamada utilizando o algoritmo Backpropagation para aprender a função lógica XOR.</a:t>
            </a:r>
          </a:p>
          <a:p>
            <a:pPr algn="l">
              <a:lnSpc>
                <a:spcPts val="64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840" y="111975"/>
            <a:ext cx="2542809" cy="138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9"/>
              </a:lnSpc>
            </a:pPr>
            <a:r>
              <a:rPr lang="en-US" sz="827" spc="-20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Arquitetura da Rede MLP  E PROBLEMA XOR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8230" y="335186"/>
            <a:ext cx="1589207" cy="1258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Arquitetura utilizada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2 neurônios de entrada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1 camada intermediária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4 neurônios ocultos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1 neurônio de saída</a:t>
            </a: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Entradas A B </a:t>
            </a: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                 </a:t>
            </a: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│ │ </a:t>
            </a: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                 </a:t>
            </a: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▼ ▼ </a:t>
            </a: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              </a:t>
            </a: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○ ○ ○ ○</a:t>
            </a: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             Camada Oculta</a:t>
            </a: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                     │ </a:t>
            </a: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                     </a:t>
            </a: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▼ </a:t>
            </a: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                     </a:t>
            </a: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○ </a:t>
            </a: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                     </a:t>
            </a: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Saída</a:t>
            </a:r>
          </a:p>
          <a:p>
            <a:pPr algn="l">
              <a:lnSpc>
                <a:spcPts val="655"/>
              </a:lnSpc>
            </a:pPr>
          </a:p>
          <a:p>
            <a:pPr algn="l">
              <a:lnSpc>
                <a:spcPts val="47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61176" y="508835"/>
            <a:ext cx="1055765" cy="687412"/>
          </a:xfrm>
          <a:custGeom>
            <a:avLst/>
            <a:gdLst/>
            <a:ahLst/>
            <a:cxnLst/>
            <a:rect r="r" b="b" t="t" l="l"/>
            <a:pathLst>
              <a:path h="687412" w="1055765">
                <a:moveTo>
                  <a:pt x="0" y="0"/>
                </a:moveTo>
                <a:lnTo>
                  <a:pt x="1055765" y="0"/>
                </a:lnTo>
                <a:lnTo>
                  <a:pt x="1055765" y="687412"/>
                </a:lnTo>
                <a:lnTo>
                  <a:pt x="0" y="6874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655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61176" y="359931"/>
            <a:ext cx="1033634" cy="9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"/>
              </a:lnSpc>
            </a:pPr>
            <a:r>
              <a:rPr lang="en-US" sz="627" spc="-1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TABELA VERDADE XOR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0550" y="1234347"/>
            <a:ext cx="1394610" cy="418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"/>
              </a:lnSpc>
            </a:pPr>
            <a:r>
              <a:rPr lang="en-US" sz="627" spc="-15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 função XOR não é linearmente separável, ou seja, não pode ser resolvida por um Perceptron simples.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840" y="111975"/>
            <a:ext cx="2241168" cy="138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9"/>
              </a:lnSpc>
            </a:pPr>
            <a:r>
              <a:rPr lang="en-US" sz="827" spc="-20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Backpropagation e Funções de Ativação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8230" y="335186"/>
            <a:ext cx="1589207" cy="1048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Backpropagation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Forward Propagation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Cálculo do erro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Retropropagação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Atualização dos pesos</a:t>
            </a:r>
          </a:p>
          <a:p>
            <a:pPr algn="l">
              <a:lnSpc>
                <a:spcPts val="935"/>
              </a:lnSpc>
            </a:pP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Funções de ativação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Sigmoide Binária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Sigmoide Bipolar</a:t>
            </a:r>
          </a:p>
          <a:p>
            <a:pPr algn="l" marL="101044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Tangente Hiperbólica</a:t>
            </a:r>
          </a:p>
          <a:p>
            <a:pPr algn="l">
              <a:lnSpc>
                <a:spcPts val="655"/>
              </a:lnSpc>
            </a:pPr>
          </a:p>
          <a:p>
            <a:pPr algn="l">
              <a:lnSpc>
                <a:spcPts val="655"/>
              </a:lnSpc>
            </a:pPr>
          </a:p>
          <a:p>
            <a:pPr algn="l">
              <a:lnSpc>
                <a:spcPts val="47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47514" y="285738"/>
            <a:ext cx="1120564" cy="534815"/>
          </a:xfrm>
          <a:custGeom>
            <a:avLst/>
            <a:gdLst/>
            <a:ahLst/>
            <a:cxnLst/>
            <a:rect r="r" b="b" t="t" l="l"/>
            <a:pathLst>
              <a:path h="534815" w="1120564">
                <a:moveTo>
                  <a:pt x="0" y="0"/>
                </a:moveTo>
                <a:lnTo>
                  <a:pt x="1120564" y="0"/>
                </a:lnTo>
                <a:lnTo>
                  <a:pt x="1120564" y="534814"/>
                </a:lnTo>
                <a:lnTo>
                  <a:pt x="0" y="5348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47514" y="842561"/>
            <a:ext cx="1120564" cy="431777"/>
          </a:xfrm>
          <a:custGeom>
            <a:avLst/>
            <a:gdLst/>
            <a:ahLst/>
            <a:cxnLst/>
            <a:rect r="r" b="b" t="t" l="l"/>
            <a:pathLst>
              <a:path h="431777" w="1120564">
                <a:moveTo>
                  <a:pt x="0" y="0"/>
                </a:moveTo>
                <a:lnTo>
                  <a:pt x="1120564" y="0"/>
                </a:lnTo>
                <a:lnTo>
                  <a:pt x="1120564" y="431777"/>
                </a:lnTo>
                <a:lnTo>
                  <a:pt x="0" y="43177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6642" r="0" b="-6642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86931" y="1266927"/>
            <a:ext cx="1241729" cy="453873"/>
          </a:xfrm>
          <a:custGeom>
            <a:avLst/>
            <a:gdLst/>
            <a:ahLst/>
            <a:cxnLst/>
            <a:rect r="r" b="b" t="t" l="l"/>
            <a:pathLst>
              <a:path h="453873" w="1241729">
                <a:moveTo>
                  <a:pt x="0" y="0"/>
                </a:moveTo>
                <a:lnTo>
                  <a:pt x="1241730" y="0"/>
                </a:lnTo>
                <a:lnTo>
                  <a:pt x="1241730" y="453873"/>
                </a:lnTo>
                <a:lnTo>
                  <a:pt x="0" y="4538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840" y="111975"/>
            <a:ext cx="2224094" cy="138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9"/>
              </a:lnSpc>
            </a:pPr>
            <a:r>
              <a:rPr lang="en-US" sz="827" spc="-20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Atualização dos Pesos e Experimentos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8649" y="467763"/>
            <a:ext cx="1589207" cy="1329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"/>
              </a:lnSpc>
            </a:pPr>
            <a:r>
              <a:rPr lang="en-US" sz="568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Atualização dos pesos</a:t>
            </a:r>
          </a:p>
          <a:p>
            <a:pPr algn="l" marL="122635" indent="-61317" lvl="1">
              <a:lnSpc>
                <a:spcPts val="795"/>
              </a:lnSpc>
              <a:buFont typeface="Arial"/>
              <a:buChar char="•"/>
            </a:pPr>
            <a:r>
              <a:rPr lang="en-US" sz="568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Cálculo do erro</a:t>
            </a:r>
          </a:p>
          <a:p>
            <a:pPr algn="l" marL="122635" indent="-61317" lvl="1">
              <a:lnSpc>
                <a:spcPts val="795"/>
              </a:lnSpc>
              <a:buFont typeface="Arial"/>
              <a:buChar char="•"/>
            </a:pPr>
            <a:r>
              <a:rPr lang="en-US" sz="568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Gradiente</a:t>
            </a:r>
          </a:p>
          <a:p>
            <a:pPr algn="l" marL="122635" indent="-61317" lvl="1">
              <a:lnSpc>
                <a:spcPts val="795"/>
              </a:lnSpc>
              <a:buFont typeface="Arial"/>
              <a:buChar char="•"/>
            </a:pPr>
            <a:r>
              <a:rPr lang="en-US" sz="568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Ajuste dos pesos e bias</a:t>
            </a:r>
          </a:p>
          <a:p>
            <a:pPr algn="l">
              <a:lnSpc>
                <a:spcPts val="795"/>
              </a:lnSpc>
            </a:pPr>
          </a:p>
          <a:p>
            <a:pPr algn="l">
              <a:lnSpc>
                <a:spcPts val="795"/>
              </a:lnSpc>
            </a:pPr>
            <a:r>
              <a:rPr lang="en-US" sz="568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Experimentos realizados</a:t>
            </a:r>
          </a:p>
          <a:p>
            <a:pPr algn="l" marL="122635" indent="-61317" lvl="1">
              <a:lnSpc>
                <a:spcPts val="795"/>
              </a:lnSpc>
              <a:buFont typeface="Arial"/>
              <a:buChar char="•"/>
            </a:pPr>
            <a:r>
              <a:rPr lang="en-US" sz="568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Variação do número de neurônios ocultos</a:t>
            </a:r>
          </a:p>
          <a:p>
            <a:pPr algn="l" marL="122635" indent="-61317" lvl="1">
              <a:lnSpc>
                <a:spcPts val="795"/>
              </a:lnSpc>
              <a:buFont typeface="Arial"/>
              <a:buChar char="•"/>
            </a:pPr>
            <a:r>
              <a:rPr lang="en-US" sz="568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Variação da taxa de aprendizagem</a:t>
            </a:r>
          </a:p>
          <a:p>
            <a:pPr algn="l" marL="122635" indent="-61317" lvl="1">
              <a:lnSpc>
                <a:spcPts val="795"/>
              </a:lnSpc>
              <a:buFont typeface="Arial"/>
              <a:buChar char="•"/>
            </a:pPr>
            <a:r>
              <a:rPr lang="en-US" sz="568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Diferentes inicializações dos pesos</a:t>
            </a:r>
          </a:p>
          <a:p>
            <a:pPr algn="l" marL="122635" indent="-61317" lvl="1">
              <a:lnSpc>
                <a:spcPts val="795"/>
              </a:lnSpc>
              <a:buFont typeface="Arial"/>
              <a:buChar char="•"/>
            </a:pPr>
            <a:r>
              <a:rPr lang="en-US" sz="568" spc="-14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Testes com AND, OR, NAND e NOR</a:t>
            </a:r>
          </a:p>
          <a:p>
            <a:pPr algn="l">
              <a:lnSpc>
                <a:spcPts val="795"/>
              </a:lnSpc>
            </a:pPr>
          </a:p>
          <a:p>
            <a:pPr algn="l">
              <a:lnSpc>
                <a:spcPts val="795"/>
              </a:lnSpc>
            </a:pPr>
          </a:p>
          <a:p>
            <a:pPr algn="l">
              <a:lnSpc>
                <a:spcPts val="187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840" y="111975"/>
            <a:ext cx="2224094" cy="138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9"/>
              </a:lnSpc>
            </a:pPr>
            <a:r>
              <a:rPr lang="en-US" sz="827" spc="-20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Resultados Obtidos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8649" y="458238"/>
            <a:ext cx="1589207" cy="130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Principais resultados</a:t>
            </a:r>
          </a:p>
          <a:p>
            <a:pPr algn="l" marL="101045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Aprendizagem correta da função XOR</a:t>
            </a:r>
          </a:p>
          <a:p>
            <a:pPr algn="l" marL="101045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Redução progressiva do erro</a:t>
            </a:r>
          </a:p>
          <a:p>
            <a:pPr algn="l" marL="101045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Convergência da rede</a:t>
            </a:r>
          </a:p>
          <a:p>
            <a:pPr algn="l" marL="101045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Influência dos hiperparâmetros</a:t>
            </a:r>
          </a:p>
          <a:p>
            <a:pPr algn="l">
              <a:lnSpc>
                <a:spcPts val="655"/>
              </a:lnSpc>
            </a:pPr>
          </a:p>
          <a:p>
            <a:pPr algn="l">
              <a:lnSpc>
                <a:spcPts val="655"/>
              </a:lnSpc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Observações</a:t>
            </a:r>
          </a:p>
          <a:p>
            <a:pPr algn="l" marL="101045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Taxas muito baixas tornam o treinamento lento.</a:t>
            </a:r>
          </a:p>
          <a:p>
            <a:pPr algn="l" marL="101045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Taxas muito altas podem causar instabilidade.</a:t>
            </a:r>
          </a:p>
          <a:p>
            <a:pPr algn="l" marL="101045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 inicialização dos pesos influencia a convergência.</a:t>
            </a:r>
          </a:p>
          <a:p>
            <a:pPr algn="l" marL="101045" indent="-50522" lvl="1">
              <a:lnSpc>
                <a:spcPts val="655"/>
              </a:lnSpc>
              <a:buFont typeface="Arial"/>
              <a:buChar char="•"/>
            </a:pPr>
            <a:r>
              <a:rPr lang="en-US" sz="468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 aumento de neurônios nem sempre reduz o número de épocas.</a:t>
            </a:r>
          </a:p>
          <a:p>
            <a:pPr algn="l">
              <a:lnSpc>
                <a:spcPts val="375"/>
              </a:lnSpc>
            </a:pPr>
          </a:p>
          <a:p>
            <a:pPr algn="l">
              <a:lnSpc>
                <a:spcPts val="655"/>
              </a:lnSpc>
            </a:pPr>
          </a:p>
          <a:p>
            <a:pPr algn="l">
              <a:lnSpc>
                <a:spcPts val="655"/>
              </a:lnSpc>
            </a:pPr>
          </a:p>
          <a:p>
            <a:pPr algn="l">
              <a:lnSpc>
                <a:spcPts val="244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840" y="111975"/>
            <a:ext cx="2224094" cy="138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9"/>
              </a:lnSpc>
            </a:pPr>
            <a:r>
              <a:rPr lang="en-US" sz="827" spc="-20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Conclusão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6035" y="350964"/>
            <a:ext cx="1871958" cy="1134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0748" indent="-55374" lvl="1">
              <a:lnSpc>
                <a:spcPts val="718"/>
              </a:lnSpc>
              <a:buFont typeface="Arial"/>
              <a:buChar char="•"/>
            </a:pPr>
            <a:r>
              <a:rPr lang="en-US" sz="512" spc="-12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 Perceptron simples não resolve a função XOR.</a:t>
            </a:r>
          </a:p>
          <a:p>
            <a:pPr algn="l" marL="110748" indent="-55374" lvl="1">
              <a:lnSpc>
                <a:spcPts val="718"/>
              </a:lnSpc>
              <a:buFont typeface="Arial"/>
              <a:buChar char="•"/>
            </a:pPr>
            <a:r>
              <a:rPr lang="en-US" sz="512" spc="-12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 camada intermediária é essencial.</a:t>
            </a:r>
          </a:p>
          <a:p>
            <a:pPr algn="l" marL="110748" indent="-55374" lvl="1">
              <a:lnSpc>
                <a:spcPts val="718"/>
              </a:lnSpc>
              <a:buFont typeface="Arial"/>
              <a:buChar char="•"/>
            </a:pPr>
            <a:r>
              <a:rPr lang="en-US" sz="512" spc="-12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 algoritmo Backpropagation ajusta eficientemente os pesos.</a:t>
            </a:r>
          </a:p>
          <a:p>
            <a:pPr algn="l" marL="110748" indent="-55374" lvl="1">
              <a:lnSpc>
                <a:spcPts val="718"/>
              </a:lnSpc>
              <a:buFont typeface="Arial"/>
              <a:buChar char="•"/>
            </a:pPr>
            <a:r>
              <a:rPr lang="en-US" sz="512" spc="-12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A escolha dos hiperparâmetros influencia diretamente o desempenho.</a:t>
            </a:r>
          </a:p>
          <a:p>
            <a:pPr algn="l" marL="110748" indent="-55374" lvl="1">
              <a:lnSpc>
                <a:spcPts val="718"/>
              </a:lnSpc>
              <a:buFont typeface="Arial"/>
              <a:buChar char="•"/>
            </a:pPr>
            <a:r>
              <a:rPr lang="en-US" sz="512" spc="-12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Os resultados foram compatíveis com o artigo de referência.</a:t>
            </a:r>
          </a:p>
          <a:p>
            <a:pPr algn="l">
              <a:lnSpc>
                <a:spcPts val="1178"/>
              </a:lnSpc>
            </a:pPr>
          </a:p>
          <a:p>
            <a:pPr algn="l">
              <a:lnSpc>
                <a:spcPts val="411"/>
              </a:lnSpc>
            </a:pPr>
          </a:p>
          <a:p>
            <a:pPr algn="l">
              <a:lnSpc>
                <a:spcPts val="718"/>
              </a:lnSpc>
            </a:pPr>
          </a:p>
          <a:p>
            <a:pPr algn="l">
              <a:lnSpc>
                <a:spcPts val="718"/>
              </a:lnSpc>
            </a:pPr>
          </a:p>
          <a:p>
            <a:pPr algn="l">
              <a:lnSpc>
                <a:spcPts val="268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0840" y="111975"/>
            <a:ext cx="2224094" cy="138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9"/>
              </a:lnSpc>
            </a:pPr>
            <a:r>
              <a:rPr lang="en-US" sz="827" spc="-20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Referência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6035" y="350964"/>
            <a:ext cx="1871958" cy="604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8"/>
              </a:lnSpc>
            </a:pPr>
          </a:p>
          <a:p>
            <a:pPr algn="l">
              <a:lnSpc>
                <a:spcPts val="618"/>
              </a:lnSpc>
            </a:pPr>
            <a:r>
              <a:rPr lang="en-US" sz="441" spc="-11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OLIVEIRA, Fábio Henrique M.; BRAGA, Pedro Henrique C. Implementação de funções lógicas utilizando retropropagação do erro. 2011.</a:t>
            </a:r>
          </a:p>
          <a:p>
            <a:pPr algn="l">
              <a:lnSpc>
                <a:spcPts val="411"/>
              </a:lnSpc>
            </a:pPr>
          </a:p>
          <a:p>
            <a:pPr algn="l">
              <a:lnSpc>
                <a:spcPts val="718"/>
              </a:lnSpc>
            </a:pPr>
          </a:p>
          <a:p>
            <a:pPr algn="l">
              <a:lnSpc>
                <a:spcPts val="718"/>
              </a:lnSpc>
            </a:pPr>
          </a:p>
          <a:p>
            <a:pPr algn="l">
              <a:lnSpc>
                <a:spcPts val="268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12460" r="-3571" b="-124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8153" y="598723"/>
            <a:ext cx="2224094" cy="41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9"/>
              </a:lnSpc>
            </a:pPr>
            <a:r>
              <a:rPr lang="en-US" sz="1227" spc="-30">
                <a:solidFill>
                  <a:srgbClr val="05367E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OBRIGADO PELA ATENÇÃO!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0">
            <a:off x="2347855" y="-150186"/>
            <a:ext cx="947509" cy="947509"/>
          </a:xfrm>
          <a:custGeom>
            <a:avLst/>
            <a:gdLst/>
            <a:ahLst/>
            <a:cxnLst/>
            <a:rect r="r" b="b" t="t" l="l"/>
            <a:pathLst>
              <a:path h="947509" w="947509">
                <a:moveTo>
                  <a:pt x="947509" y="947509"/>
                </a:moveTo>
                <a:lnTo>
                  <a:pt x="0" y="947509"/>
                </a:lnTo>
                <a:lnTo>
                  <a:pt x="0" y="0"/>
                </a:lnTo>
                <a:lnTo>
                  <a:pt x="947509" y="0"/>
                </a:lnTo>
                <a:lnTo>
                  <a:pt x="947509" y="9475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1629" y="842561"/>
            <a:ext cx="1188004" cy="1188004"/>
          </a:xfrm>
          <a:custGeom>
            <a:avLst/>
            <a:gdLst/>
            <a:ahLst/>
            <a:cxnLst/>
            <a:rect r="r" b="b" t="t" l="l"/>
            <a:pathLst>
              <a:path h="1188004" w="1188004">
                <a:moveTo>
                  <a:pt x="0" y="0"/>
                </a:moveTo>
                <a:lnTo>
                  <a:pt x="1188004" y="0"/>
                </a:lnTo>
                <a:lnTo>
                  <a:pt x="1188004" y="1188005"/>
                </a:lnTo>
                <a:lnTo>
                  <a:pt x="0" y="1188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-898558" y="-572793"/>
            <a:ext cx="1888555" cy="274699"/>
          </a:xfrm>
          <a:custGeom>
            <a:avLst/>
            <a:gdLst/>
            <a:ahLst/>
            <a:cxnLst/>
            <a:rect r="r" b="b" t="t" l="l"/>
            <a:pathLst>
              <a:path h="274699" w="1888555">
                <a:moveTo>
                  <a:pt x="0" y="0"/>
                </a:moveTo>
                <a:lnTo>
                  <a:pt x="1888556" y="0"/>
                </a:lnTo>
                <a:lnTo>
                  <a:pt x="1888556" y="274699"/>
                </a:lnTo>
                <a:lnTo>
                  <a:pt x="0" y="274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82036" y="-131025"/>
            <a:ext cx="1801596" cy="262050"/>
          </a:xfrm>
          <a:custGeom>
            <a:avLst/>
            <a:gdLst/>
            <a:ahLst/>
            <a:cxnLst/>
            <a:rect r="r" b="b" t="t" l="l"/>
            <a:pathLst>
              <a:path h="262050" w="1801596">
                <a:moveTo>
                  <a:pt x="0" y="0"/>
                </a:moveTo>
                <a:lnTo>
                  <a:pt x="1801595" y="0"/>
                </a:lnTo>
                <a:lnTo>
                  <a:pt x="1801595" y="262050"/>
                </a:lnTo>
                <a:lnTo>
                  <a:pt x="0" y="262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2431949" y="1331019"/>
            <a:ext cx="1507549" cy="219280"/>
          </a:xfrm>
          <a:custGeom>
            <a:avLst/>
            <a:gdLst/>
            <a:ahLst/>
            <a:cxnLst/>
            <a:rect r="r" b="b" t="t" l="l"/>
            <a:pathLst>
              <a:path h="219280" w="1507549">
                <a:moveTo>
                  <a:pt x="0" y="0"/>
                </a:moveTo>
                <a:lnTo>
                  <a:pt x="1507549" y="0"/>
                </a:lnTo>
                <a:lnTo>
                  <a:pt x="1507549" y="219279"/>
                </a:lnTo>
                <a:lnTo>
                  <a:pt x="0" y="2192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462887" y="1688659"/>
            <a:ext cx="2030213" cy="295304"/>
          </a:xfrm>
          <a:custGeom>
            <a:avLst/>
            <a:gdLst/>
            <a:ahLst/>
            <a:cxnLst/>
            <a:rect r="r" b="b" t="t" l="l"/>
            <a:pathLst>
              <a:path h="295304" w="2030213">
                <a:moveTo>
                  <a:pt x="0" y="295304"/>
                </a:moveTo>
                <a:lnTo>
                  <a:pt x="2030213" y="295304"/>
                </a:lnTo>
                <a:lnTo>
                  <a:pt x="2030213" y="0"/>
                </a:lnTo>
                <a:lnTo>
                  <a:pt x="0" y="0"/>
                </a:lnTo>
                <a:lnTo>
                  <a:pt x="0" y="2953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DAHMTmbX_-w</dc:identifier>
  <dcterms:modified xsi:type="dcterms:W3CDTF">2011-08-01T06:04:30Z</dcterms:modified>
  <cp:revision>1</cp:revision>
  <dc:title>Cartão de visita tecnologia digital azul </dc:title>
</cp:coreProperties>
</file>